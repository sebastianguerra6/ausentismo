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8229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</a:rPr>
              <a:t>Diagramas UML y ER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Una guía visual para estudiantes principiantes de programación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" y="2148840"/>
            <a:ext cx="3941064" cy="0"/>
          </a:xfrm>
          <a:prstGeom prst="line">
            <a:avLst/>
          </a:prstGeom>
          <a:noFill/>
          <a:ln w="50800">
            <a:solidFill>
              <a:srgbClr val="2DD4B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715000" y="2651760"/>
            <a:ext cx="164592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49640" y="2651760"/>
            <a:ext cx="164592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40480" y="2148840"/>
            <a:ext cx="1554480" cy="1005840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software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3611880"/>
            <a:ext cx="1554480" cy="1005840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datos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2148840"/>
            <a:ext cx="1554480" cy="1005840"/>
          </a:xfrm>
          <a:prstGeom prst="rect">
            <a:avLst/>
          </a:prstGeom>
          <a:solidFill>
            <a:srgbClr val="DBEAFE"/>
          </a:solidFill>
          <a:ln w="15240">
            <a:solidFill>
              <a:srgbClr val="60A5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29800" y="2148840"/>
            <a:ext cx="1554480" cy="100584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2651760"/>
            <a:ext cx="150876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4114800"/>
            <a:ext cx="4434840" cy="-11430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523951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De una idea confusa a una solución que todos pueden entender.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6418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Profesor: Programación / Bases de Datos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visual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dibujar antes de programar?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Los diagramas reducen errores porque hacen visible la estructura del sistema.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2743200"/>
            <a:ext cx="2039112" cy="0"/>
          </a:xfrm>
          <a:prstGeom prst="line">
            <a:avLst/>
          </a:prstGeom>
          <a:noFill/>
          <a:ln w="304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75504" y="2743200"/>
            <a:ext cx="2020824" cy="0"/>
          </a:xfrm>
          <a:prstGeom prst="line">
            <a:avLst/>
          </a:prstGeom>
          <a:noFill/>
          <a:ln w="304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743200"/>
            <a:ext cx="2011680" cy="0"/>
          </a:xfrm>
          <a:prstGeom prst="line">
            <a:avLst/>
          </a:prstGeom>
          <a:noFill/>
          <a:ln w="304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13232" y="2176272"/>
            <a:ext cx="1234440" cy="1005840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176272"/>
            <a:ext cx="1417320" cy="1005840"/>
          </a:xfrm>
          <a:prstGeom prst="rect">
            <a:avLst/>
          </a:prstGeom>
          <a:solidFill>
            <a:srgbClr val="EEF2FF"/>
          </a:solidFill>
          <a:ln w="15240">
            <a:solidFill>
              <a:srgbClr val="818C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5472" y="2176272"/>
            <a:ext cx="1417320" cy="100584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49840" y="2176272"/>
            <a:ext cx="1417320" cy="1005840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393192" cy="3931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1655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312" y="4334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Aclara requisitos con el equipo y el cliente.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22960" y="4956048"/>
            <a:ext cx="393192" cy="3931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9200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4946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Evita diseñar la base de datos “a ciegas”.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393192" cy="393192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41655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02552" y="43342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Convierte conversaciones en decisiones técnicas.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172200" y="4956048"/>
            <a:ext cx="393192" cy="3931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5029200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4946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Sirve como documentación viva del proyecto.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rápido: ¿qué resuelve cada diagrama?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UML mira el comportamiento del software; ER mira la estructura de los datos.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2514600"/>
            <a:ext cx="2240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78040" y="2514600"/>
            <a:ext cx="2240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71616" y="2999232"/>
            <a:ext cx="0" cy="1207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" y="1975104"/>
            <a:ext cx="1783080" cy="1078992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36592" y="1874520"/>
            <a:ext cx="2651760" cy="1280160"/>
          </a:xfrm>
          <a:prstGeom prst="rect">
            <a:avLst/>
          </a:prstGeom>
          <a:solidFill>
            <a:srgbClr val="EEF2FF"/>
          </a:solidFill>
          <a:ln w="15240">
            <a:solidFill>
              <a:srgbClr val="818C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 · casos de uso · secuencia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35440" y="1874520"/>
            <a:ext cx="2468880" cy="1280160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· relaciones · cardinalidad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4315968"/>
            <a:ext cx="2816352" cy="713232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implementable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5440680"/>
            <a:ext cx="10241280" cy="566928"/>
          </a:xfrm>
          <a:prstGeom prst="rect">
            <a:avLst/>
          </a:prstGeom>
          <a:solidFill>
            <a:srgbClr val="0F1A2E"/>
          </a:solidFill>
          <a:ln w="15240">
            <a:solidFill>
              <a:srgbClr val="2DD4B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Piensa en UML como el plano de cómo se comporta el sistema, y en ER como el plano de dónde viven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UML: diagrama de clases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Representa las piezas del software: clases, atributos, métodos y relaciones.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30752" y="2926080"/>
            <a:ext cx="11612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693408" y="2926080"/>
            <a:ext cx="1097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5840" y="1920240"/>
            <a:ext cx="2331720" cy="2039112"/>
          </a:xfrm>
          <a:prstGeom prst="roundRect">
            <a:avLst>
              <a:gd name="adj" fmla="val 2691"/>
            </a:avLst>
          </a:prstGeom>
          <a:solidFill>
            <a:srgbClr val="F8FAF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920240"/>
            <a:ext cx="2331720" cy="42062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Alumno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" y="2432304"/>
            <a:ext cx="2093976" cy="648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id: int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nombre: string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email: string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1005840" y="3117738"/>
            <a:ext cx="2331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209178"/>
            <a:ext cx="2093976" cy="7318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+ inscribirse(curso)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892040" y="1920240"/>
            <a:ext cx="2267712" cy="2039112"/>
          </a:xfrm>
          <a:prstGeom prst="roundRect">
            <a:avLst>
              <a:gd name="adj" fmla="val 2691"/>
            </a:avLst>
          </a:prstGeom>
          <a:solidFill>
            <a:srgbClr val="F8FAFC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920240"/>
            <a:ext cx="2267712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9339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Inscripción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2432304"/>
            <a:ext cx="2029968" cy="648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fecha: Date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notaFinal: decimal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892040" y="3117738"/>
            <a:ext cx="2267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3209178"/>
            <a:ext cx="2029968" cy="7318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+ calcularEstado()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302752" y="1920240"/>
            <a:ext cx="2331720" cy="2039112"/>
          </a:xfrm>
          <a:prstGeom prst="roundRect">
            <a:avLst>
              <a:gd name="adj" fmla="val 2691"/>
            </a:avLst>
          </a:prstGeom>
          <a:solidFill>
            <a:srgbClr val="F8FAFC"/>
          </a:solidFill>
          <a:ln w="254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1920240"/>
            <a:ext cx="2331720" cy="420624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8472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Curso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21624" y="2432304"/>
            <a:ext cx="2093976" cy="648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codigo: string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titulo: string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- creditos: int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302752" y="3117738"/>
            <a:ext cx="2331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3209178"/>
            <a:ext cx="2093976" cy="7318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+ abrirGrupo()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3776472" y="2651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26517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0..*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05472" y="26517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0..*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2651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892040"/>
            <a:ext cx="9601200" cy="502920"/>
          </a:xfrm>
          <a:prstGeom prst="rect">
            <a:avLst/>
          </a:prstGeom>
          <a:solidFill>
            <a:srgbClr val="0F1A2E"/>
          </a:solidFill>
          <a:ln w="15240">
            <a:solidFill>
              <a:srgbClr val="22D3E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Lectura: un Alumno puede tener muchas Inscripciones; cada Inscripción pertenece a un Curso.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UML: relaciones más usadas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No todas las líneas significan lo mismo. La forma de la línea comunica intención.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2148840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468880" y="1828800"/>
            <a:ext cx="114300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828800"/>
            <a:ext cx="132588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938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/ conoce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Herencia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03320" y="3108960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68880" y="2788920"/>
            <a:ext cx="114300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788920"/>
            <a:ext cx="132588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tipo 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03320" y="4069080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749040" y="3941064"/>
            <a:ext cx="256032" cy="256032"/>
          </a:xfrm>
          <a:prstGeom prst="diamond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749040"/>
            <a:ext cx="114300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3749040"/>
            <a:ext cx="132588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inseparable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846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03320" y="5029200"/>
            <a:ext cx="137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709160"/>
            <a:ext cx="114300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FB718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4709160"/>
            <a:ext cx="1325880" cy="640080"/>
          </a:xfrm>
          <a:prstGeom prst="rect">
            <a:avLst/>
          </a:prstGeom>
          <a:solidFill>
            <a:srgbClr val="F8FAFC"/>
          </a:solidFill>
          <a:ln w="15240">
            <a:solidFill>
              <a:srgbClr val="FB718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ServicioPDF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818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necesita temporalmente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824728"/>
            <a:ext cx="10058400" cy="502920"/>
          </a:xfrm>
          <a:prstGeom prst="rect">
            <a:avLst/>
          </a:prstGeom>
          <a:solidFill>
            <a:srgbClr val="0F1A2E"/>
          </a:solidFill>
          <a:ln w="15240">
            <a:solidFill>
              <a:srgbClr val="818CF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Consejo: no memorices símbolos al principio. Aprende primero a explicar la relación con una frase sencilla.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UML: diagrama de casos de uso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Muestra quién usa el sistema y para qué lo usa.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2834640"/>
            <a:ext cx="2103120" cy="-68580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148840" y="2834640"/>
            <a:ext cx="2103120" cy="13716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48840" y="2834640"/>
            <a:ext cx="2103120" cy="96012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104120" y="2834640"/>
            <a:ext cx="-2057400" cy="-27432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104120" y="2834640"/>
            <a:ext cx="-2057400" cy="56692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886200" y="1444752"/>
            <a:ext cx="4526280" cy="3493008"/>
          </a:xfrm>
          <a:prstGeom prst="roundRect">
            <a:avLst>
              <a:gd name="adj" fmla="val 2618"/>
            </a:avLst>
          </a:prstGeom>
          <a:solidFill>
            <a:srgbClr val="0F1A2E"/>
          </a:solidFill>
          <a:ln w="1778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Biblioteca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536192" y="18288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28216" y="2212848"/>
            <a:ext cx="0" cy="6675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98448" y="2423160"/>
            <a:ext cx="85953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728216" y="2880360"/>
            <a:ext cx="-402336" cy="5394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728216" y="2880360"/>
            <a:ext cx="420624" cy="5394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115568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04120" y="18288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6144" y="2212848"/>
            <a:ext cx="0" cy="66751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66376" y="2423160"/>
            <a:ext cx="85953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296144" y="2880360"/>
            <a:ext cx="-402336" cy="5394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296144" y="2880360"/>
            <a:ext cx="420624" cy="5394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592056" y="3703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1993392"/>
            <a:ext cx="1600200" cy="502920"/>
          </a:xfrm>
          <a:prstGeom prst="rect">
            <a:avLst/>
          </a:prstGeom>
          <a:solidFill>
            <a:srgbClr val="E0F2FE"/>
          </a:solidFill>
          <a:ln w="15240">
            <a:solidFill>
              <a:srgbClr val="60A5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libro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07408" y="2788920"/>
            <a:ext cx="1783080" cy="502920"/>
          </a:xfrm>
          <a:prstGeom prst="rect">
            <a:avLst/>
          </a:prstGeom>
          <a:solidFill>
            <a:srgbClr val="E0F2FE"/>
          </a:solidFill>
          <a:ln w="15240">
            <a:solidFill>
              <a:srgbClr val="60A5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préstamo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07408" y="3602736"/>
            <a:ext cx="1783080" cy="502920"/>
          </a:xfrm>
          <a:prstGeom prst="rect">
            <a:avLst/>
          </a:prstGeom>
          <a:solidFill>
            <a:srgbClr val="E0F2FE"/>
          </a:solidFill>
          <a:ln w="15240">
            <a:solidFill>
              <a:srgbClr val="60A5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Renovar préstamo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73952" y="2395728"/>
            <a:ext cx="1828800" cy="502920"/>
          </a:xfrm>
          <a:prstGeom prst="rect">
            <a:avLst/>
          </a:prstGeom>
          <a:solidFill>
            <a:srgbClr val="DBEAFE"/>
          </a:solidFill>
          <a:ln w="15240">
            <a:solidFill>
              <a:srgbClr val="818C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devolución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246120"/>
            <a:ext cx="1664208" cy="502920"/>
          </a:xfrm>
          <a:prstGeom prst="rect">
            <a:avLst/>
          </a:prstGeom>
          <a:solidFill>
            <a:srgbClr val="DBEAFE"/>
          </a:solidFill>
          <a:ln w="15240">
            <a:solidFill>
              <a:srgbClr val="818C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multas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440680"/>
            <a:ext cx="10241280" cy="502920"/>
          </a:xfrm>
          <a:prstGeom prst="rect">
            <a:avLst/>
          </a:prstGeom>
          <a:solidFill>
            <a:srgbClr val="0F1A2E"/>
          </a:solidFill>
          <a:ln w="15240">
            <a:solidFill>
              <a:srgbClr val="60A5F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Úsalo al inicio del proyecto: ayuda a descubrir funcionalidades sin entrar todavía al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UML: diagrama de secuencia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Cuenta una historia técnica: quién llama a quién y en qué orden.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965960"/>
            <a:ext cx="0" cy="3593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965960"/>
            <a:ext cx="0" cy="3593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965960"/>
            <a:ext cx="0" cy="3593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965960"/>
            <a:ext cx="0" cy="3593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1965960"/>
            <a:ext cx="0" cy="3593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2423160"/>
            <a:ext cx="224028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600200" y="2176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enviar formulario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749040" y="2880360"/>
            <a:ext cx="224028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40480" y="2633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POST /login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89320" y="3337560"/>
            <a:ext cx="214884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080760" y="30906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validar usuario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-214884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08076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resultado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89320" y="4251960"/>
            <a:ext cx="434340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080760" y="40050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token / notificación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989320" y="4800600"/>
            <a:ext cx="-224028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40480" y="4553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respuesta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14400" y="1463040"/>
            <a:ext cx="1170432" cy="475488"/>
          </a:xfrm>
          <a:prstGeom prst="rect">
            <a:avLst/>
          </a:prstGeom>
          <a:solidFill>
            <a:srgbClr val="E0F2FE"/>
          </a:solidFill>
          <a:ln w="15240">
            <a:solidFill>
              <a:srgbClr val="2D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54680" y="1463040"/>
            <a:ext cx="1170432" cy="475488"/>
          </a:xfrm>
          <a:prstGeom prst="rect">
            <a:avLst/>
          </a:prstGeom>
          <a:solidFill>
            <a:srgbClr val="E0F2FE"/>
          </a:solidFill>
          <a:ln w="15240">
            <a:solidFill>
              <a:srgbClr val="2D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1463040"/>
            <a:ext cx="1170432" cy="475488"/>
          </a:xfrm>
          <a:prstGeom prst="rect">
            <a:avLst/>
          </a:prstGeom>
          <a:solidFill>
            <a:srgbClr val="E0F2FE"/>
          </a:solidFill>
          <a:ln w="15240">
            <a:solidFill>
              <a:srgbClr val="2D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1463040"/>
            <a:ext cx="1170432" cy="475488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8360" y="1463040"/>
            <a:ext cx="1170432" cy="475488"/>
          </a:xfrm>
          <a:prstGeom prst="rect">
            <a:avLst/>
          </a:prstGeom>
          <a:solidFill>
            <a:srgbClr val="E0F2FE"/>
          </a:solidFill>
          <a:ln w="15240">
            <a:solidFill>
              <a:srgbClr val="2D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solidFill>
            <a:srgbClr val="0F1A2E"/>
          </a:solidFill>
          <a:ln w="15240">
            <a:solidFill>
              <a:srgbClr val="2DD4B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Ideal para explicar flujos: login, compra, inscripción, pago, envío de correo, etc.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ER: entidades, atributos y relaciones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El modelo ER responde: ¿qué datos guardamos y cómo se conectan?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2816352"/>
            <a:ext cx="1554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37960" y="2816352"/>
            <a:ext cx="1554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601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57400"/>
            <a:ext cx="214884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30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CLIENTE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2551176"/>
            <a:ext cx="1892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id_cliente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nombre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email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846320" y="2359152"/>
            <a:ext cx="1417320" cy="914400"/>
          </a:xfrm>
          <a:prstGeom prst="rect">
            <a:avLst/>
          </a:prstGeom>
          <a:solidFill>
            <a:srgbClr val="FDF4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2057400"/>
            <a:ext cx="214884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30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PEDIDO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1896" y="2551176"/>
            <a:ext cx="18928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id_pedido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fecha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total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205740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Entidad = cosa importante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526280"/>
            <a:ext cx="2194560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Atributo = dato de esa cosa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526280"/>
            <a:ext cx="1645920" cy="347472"/>
          </a:xfrm>
          <a:prstGeom prst="rect">
            <a:avLst/>
          </a:prstGeom>
          <a:solidFill>
            <a:srgbClr val="A78BFA"/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Relación = vínculo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5577840"/>
            <a:ext cx="8595360" cy="502920"/>
          </a:xfrm>
          <a:prstGeom prst="rect">
            <a:avLst/>
          </a:prstGeom>
          <a:solidFill>
            <a:srgbClr val="0F1A2E"/>
          </a:solidFill>
          <a:ln w="15240">
            <a:solidFill>
              <a:srgbClr val="FBBF2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Diferencia clave: UML modela software. ER modela datos persistentes.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 aplicado: tienda en línea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Ejemplo clásico: clientes hacen pedidos y los pedidos contienen productos.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80360" y="2468880"/>
            <a:ext cx="1325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355080" y="2468880"/>
            <a:ext cx="12618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098280" y="2468880"/>
            <a:ext cx="1188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1783080"/>
            <a:ext cx="2084832" cy="1389888"/>
          </a:xfrm>
          <a:prstGeom prst="roundRect">
            <a:avLst>
              <a:gd name="adj" fmla="val 3947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83080"/>
            <a:ext cx="2084832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562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CLIENTE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" y="2276856"/>
            <a:ext cx="1828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id_cliente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nombre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email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160520" y="2084832"/>
            <a:ext cx="1097280" cy="731520"/>
          </a:xfrm>
          <a:prstGeom prst="rect">
            <a:avLst/>
          </a:prstGeom>
          <a:solidFill>
            <a:srgbClr val="FDF4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1709928"/>
            <a:ext cx="2084832" cy="1536192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709928"/>
            <a:ext cx="2084832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7830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PEDIDO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0136" y="2203704"/>
            <a:ext cx="18288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id_pedido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fecha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estado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FK id_cliente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75320" y="2084832"/>
            <a:ext cx="1188720" cy="731520"/>
          </a:xfrm>
          <a:prstGeom prst="rect">
            <a:avLst/>
          </a:prstGeom>
          <a:solidFill>
            <a:srgbClr val="FDF4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0" y="1783080"/>
            <a:ext cx="1901952" cy="1389888"/>
          </a:xfrm>
          <a:prstGeom prst="roundRect">
            <a:avLst>
              <a:gd name="adj" fmla="val 3947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1783080"/>
            <a:ext cx="1901952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18562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PRODUCTO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86416" y="2276856"/>
            <a:ext cx="1645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id_producto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nombre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precio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2944368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54112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10928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685032"/>
            <a:ext cx="0" cy="70408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03520" y="4480560"/>
            <a:ext cx="2578608" cy="1536192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4480560"/>
            <a:ext cx="2578608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5537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DETALLE_PEDIDO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31536" y="4974336"/>
            <a:ext cx="232257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id_detalle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FK id_pedido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FK id_producto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cantidad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precio_unitario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3931920" y="605332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relación N:M normalmente se convierte en una tabla intermedia.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ER: cardinalidad sin dolor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La cardinalidad dice cuántos registros se pueden conectar.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63240" y="225856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376672" y="225856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78992" y="1874520"/>
            <a:ext cx="155448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País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4224528" y="1920240"/>
            <a:ext cx="1188720" cy="658368"/>
          </a:xfrm>
          <a:prstGeom prst="rect">
            <a:avLst/>
          </a:prstGeom>
          <a:solidFill>
            <a:srgbClr val="EEF2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1874520"/>
            <a:ext cx="173736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Ciudad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9006840" y="1947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 muchos: un país tiene muchas ciudades.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063240" y="349300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376672" y="349300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78992" y="3108960"/>
            <a:ext cx="155448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4224528" y="3154680"/>
            <a:ext cx="1188720" cy="658368"/>
          </a:xfrm>
          <a:prstGeom prst="rect">
            <a:avLst/>
          </a:prstGeom>
          <a:solidFill>
            <a:srgbClr val="EEF2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3108960"/>
            <a:ext cx="173736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Pasaporte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9006840" y="3182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 1: una persona tiene un pasaporte.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3063240" y="472744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376672" y="4727448"/>
            <a:ext cx="118872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78992" y="4343400"/>
            <a:ext cx="155448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224528" y="4389120"/>
            <a:ext cx="1188720" cy="658368"/>
          </a:xfrm>
          <a:prstGeom prst="rect">
            <a:avLst/>
          </a:prstGeom>
          <a:solidFill>
            <a:srgbClr val="EEF2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inscribe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4343400"/>
            <a:ext cx="1737360" cy="749808"/>
          </a:xfrm>
          <a:prstGeom prst="rect">
            <a:avLst/>
          </a:prstGeom>
          <a:solidFill>
            <a:srgbClr val="F8FAFC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9006840" y="4416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a muchos: requiere tabla puente.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85800" y="5449824"/>
            <a:ext cx="457200" cy="347472"/>
          </a:xfrm>
          <a:prstGeom prst="rect">
            <a:avLst/>
          </a:prstGeom>
          <a:solidFill>
            <a:srgbClr val="86EFAC"/>
          </a:solidFill>
          <a:ln>
            <a:solidFill>
              <a:srgbClr val="86EFAC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54772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194560" y="5449824"/>
            <a:ext cx="685800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0..1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62656" y="54772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cero o uno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34840" y="5449824"/>
            <a:ext cx="45720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5192" y="54772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9360" y="5449824"/>
            <a:ext cx="640080" cy="347472"/>
          </a:xfrm>
          <a:prstGeom prst="rect">
            <a:avLst/>
          </a:prstGeom>
          <a:solidFill>
            <a:srgbClr val="A78BFA"/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N:M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68312" y="547725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a muchos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ER a tablas relacionales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El ER no se queda en dibujo: se transforma en tablas, llaves primarias y llaves foráneas.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49040" y="2743200"/>
            <a:ext cx="8686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43800" y="2743200"/>
            <a:ext cx="8686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1984248"/>
            <a:ext cx="2331720" cy="1490472"/>
          </a:xfrm>
          <a:prstGeom prst="roundRect">
            <a:avLst>
              <a:gd name="adj" fmla="val 3681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84248"/>
            <a:ext cx="233172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574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0976" y="2478024"/>
            <a:ext cx="2075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id_pedido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fecha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total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331720" cy="1490472"/>
          </a:xfrm>
          <a:prstGeom prst="roundRect">
            <a:avLst>
              <a:gd name="adj" fmla="val 3681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233172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307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CLIENTE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4151376"/>
            <a:ext cx="2075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id_cliente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nombre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email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124712" y="1444752"/>
            <a:ext cx="1737360" cy="384048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444752"/>
            <a:ext cx="2194560" cy="384048"/>
          </a:xfrm>
          <a:prstGeom prst="rect">
            <a:avLst/>
          </a:prstGeom>
          <a:solidFill>
            <a:srgbClr val="CCFBF1"/>
          </a:solidFill>
          <a:ln w="15240">
            <a:solidFill>
              <a:srgbClr val="2D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828800"/>
            <a:ext cx="2514600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2DD4B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────────────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id_cliente PK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493008"/>
            <a:ext cx="2514600" cy="1536192"/>
          </a:xfrm>
          <a:prstGeom prst="rect">
            <a:avLst/>
          </a:prstGeom>
          <a:solidFill>
            <a:srgbClr val="F8FAFC"/>
          </a:solidFill>
          <a:ln w="15240">
            <a:solidFill>
              <a:srgbClr val="2DD4B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────────────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id_pedido PK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id_cliente FK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1444752"/>
            <a:ext cx="1188720" cy="384048"/>
          </a:xfrm>
          <a:prstGeom prst="rect">
            <a:avLst/>
          </a:prstGeom>
          <a:solidFill>
            <a:srgbClr val="DBEAFE"/>
          </a:solidFill>
          <a:ln w="15240">
            <a:solidFill>
              <a:srgbClr val="60A5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063240" cy="2697480"/>
          </a:xfrm>
          <a:prstGeom prst="rect">
            <a:avLst/>
          </a:prstGeom>
          <a:solidFill>
            <a:srgbClr val="020617"/>
          </a:solidFill>
          <a:ln w="13970">
            <a:solidFill>
              <a:srgbClr val="2DD4BF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TABLE pedidos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id_pedido SERIAL PRIMARY KEY,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fecha DATE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total NUMERIC(12,2),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id_cliente INT REFERENCES clientes(id_cliente)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875520" cy="502920"/>
          </a:xfrm>
          <a:prstGeom prst="rect">
            <a:avLst/>
          </a:prstGeom>
          <a:solidFill>
            <a:srgbClr val="0F1A2E"/>
          </a:solidFill>
          <a:ln w="15240">
            <a:solidFill>
              <a:srgbClr val="2DD4B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Regla mental: entidad → tabla, atributo → columna, relación → llave foránea o tabla intermedia.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vs ER: cuándo usar cada uno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No compiten: se complementan en etapas distintas del diseño.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3319272"/>
            <a:ext cx="1014984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1956816"/>
            <a:ext cx="80924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286000" y="4288536"/>
            <a:ext cx="8092440" cy="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2423160" y="1572768"/>
            <a:ext cx="10241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Actores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572768"/>
            <a:ext cx="10241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572768"/>
            <a:ext cx="10241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Flujos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1572768"/>
            <a:ext cx="1143000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Mensajes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904488"/>
            <a:ext cx="114300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Entidades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3904488"/>
            <a:ext cx="114300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Atributos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3904488"/>
            <a:ext cx="128016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Relaciones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3904488"/>
            <a:ext cx="96012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Tablas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que responde: ¿qué hace el sistema?, ¿quién interactúa?, ¿qué clases colaboran?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331720" y="4663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que responde: ¿qué datos guardamos?, ¿cuáles son sus llaves?, ¿cómo se relacionan?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51560" y="5824728"/>
            <a:ext cx="10012680" cy="457200"/>
          </a:xfrm>
          <a:prstGeom prst="rect">
            <a:avLst/>
          </a:prstGeom>
          <a:solidFill>
            <a:srgbClr val="0F1A2E"/>
          </a:solidFill>
          <a:ln w="15240">
            <a:solidFill>
              <a:srgbClr val="A78BF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En proyectos reales normalmente se hacen ambos: primero entender comportamiento, luego diseñar datos.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guiada: sistema de reservas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En parejas: transformen un texto corto en dos diagramas.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417320" cy="384048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1148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“Un cliente puede reservar una habitación. Cada reserva tiene fecha de inicio, fecha de fin y estado. Un recepcionista puede confirmar o cancelar reservas.”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3886200"/>
            <a:ext cx="393192" cy="393192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5935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9032" y="3877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Subrayen sustantivos: cliente, habitación, reserva.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68680" y="4498848"/>
            <a:ext cx="393192" cy="3931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9032" y="44897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Subrayen verbos: reservar, confirmar, cancelar.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868680" y="5111496"/>
            <a:ext cx="393192" cy="3931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84648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9032" y="5102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Dibujen un ER mínimo y un caso de uso mínimo.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132320" y="3017520"/>
            <a:ext cx="12801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669280" y="2359152"/>
            <a:ext cx="1737360" cy="1298448"/>
          </a:xfrm>
          <a:prstGeom prst="roundRect">
            <a:avLst>
              <a:gd name="adj" fmla="val 4225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359152"/>
            <a:ext cx="173736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CLIENTE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97296" y="2852928"/>
            <a:ext cx="14813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id_cliente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nombre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8321040" y="2249424"/>
            <a:ext cx="2011680" cy="1517904"/>
          </a:xfrm>
          <a:prstGeom prst="roundRect">
            <a:avLst>
              <a:gd name="adj" fmla="val 3614"/>
            </a:avLst>
          </a:prstGeom>
          <a:solidFill>
            <a:srgbClr val="FFF7E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249424"/>
            <a:ext cx="20116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3225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RESERVA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49056" y="2743200"/>
            <a:ext cx="175564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PK id_reserva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inicio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fin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estado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52360" y="2807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2807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4251960"/>
            <a:ext cx="4709160" cy="1234440"/>
          </a:xfrm>
          <a:prstGeom prst="roundRect">
            <a:avLst>
              <a:gd name="adj" fmla="val 7407"/>
            </a:avLst>
          </a:prstGeom>
          <a:solidFill>
            <a:srgbClr val="0F1A2E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4608576"/>
            <a:ext cx="1143000" cy="411480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0" y="4608576"/>
            <a:ext cx="1188720" cy="411480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87968" y="4608576"/>
            <a:ext cx="1143000" cy="411480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50992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de solución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382512"/>
            <a:ext cx="11018520" cy="0"/>
          </a:xfrm>
          <a:prstGeom prst="line">
            <a:avLst/>
          </a:prstGeom>
          <a:noFill/>
          <a:ln w="12700">
            <a:solidFill>
              <a:srgbClr val="24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023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para diagramar bien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9784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La meta no es dibujar bonito: es que el equipo entienda y pueda construir.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+ 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556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669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764792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 con el texto del requisito, no con símbolos.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566928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nombres claros: Cliente, Pedido, Reserva, Usuario.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5669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3264408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línea debe poder leerse como una frase.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1005840" y="3941064"/>
            <a:ext cx="566928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4014216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ER, revisa siempre cardinalidad y llaves.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1005840" y="4690872"/>
            <a:ext cx="566928" cy="34747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4764024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 el diagrama cuando cambie el código.</a:t>
            </a:r>
            <a:endParaRPr lang="en-US" sz="1720" dirty="0"/>
          </a:p>
        </p:txBody>
      </p:sp>
      <p:sp>
        <p:nvSpPr>
          <p:cNvPr id="17" name="Shape 15"/>
          <p:cNvSpPr/>
          <p:nvPr/>
        </p:nvSpPr>
        <p:spPr>
          <a:xfrm>
            <a:off x="9555480" y="1901952"/>
            <a:ext cx="1161288" cy="1161288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716768" y="3063240"/>
            <a:ext cx="-1161288" cy="1161288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55480" y="4224528"/>
            <a:ext cx="-1161288" cy="-116128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94192" y="3063240"/>
            <a:ext cx="1161288" cy="-11612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070848" y="1508760"/>
            <a:ext cx="1005840" cy="530352"/>
          </a:xfrm>
          <a:prstGeom prst="rect">
            <a:avLst/>
          </a:prstGeom>
          <a:solidFill>
            <a:srgbClr val="E0F2FE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0" y="2816352"/>
            <a:ext cx="822960" cy="530352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4160520"/>
            <a:ext cx="1097280" cy="530352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2816352"/>
            <a:ext cx="1188720" cy="530352"/>
          </a:xfrm>
          <a:prstGeom prst="rect">
            <a:avLst/>
          </a:prstGeom>
          <a:solidFill>
            <a:srgbClr val="EEF2FF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Fin de la clase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480560" y="5852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Ahora el reto es practicar con problemas pequeños.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y ER para estudiantes principiantes</dc:title>
  <dc:subject>Diagramas UML y ER para principiantes</dc:subject>
  <dc:creator>OpenAI</dc:creator>
  <cp:lastModifiedBy>OpenAI</cp:lastModifiedBy>
  <cp:revision>1</cp:revision>
  <dcterms:created xsi:type="dcterms:W3CDTF">2026-06-25T17:15:43Z</dcterms:created>
  <dcterms:modified xsi:type="dcterms:W3CDTF">2026-06-25T17:15:43Z</dcterms:modified>
</cp:coreProperties>
</file>